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19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6347F-A979-0DD3-AA6F-49A5C8DCC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705030-FA5B-D522-1C32-239C501EB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229CC7-8B54-A247-E3E7-B94AB05A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C9E5-078D-4BFC-B689-51B8116A84B2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3698E8-7BB4-9F81-9B22-A5A6A631F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EF78D6-6DAF-FDBB-1DE8-BC7C5C7A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243E8-EC3E-4334-9627-837D20618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97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44211-CC8D-F3D9-65C8-88CDDDB5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BA69F3-4874-F33B-1C96-857567786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471133-3CC4-2FB2-97DC-D0AD91F0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C9E5-078D-4BFC-B689-51B8116A84B2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D71DA0-186F-F4EC-1406-147FE3BB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55D375-AEF5-785A-ED3F-A45ED71C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243E8-EC3E-4334-9627-837D20618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107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EF215-51D6-B214-D1A8-620C7A790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34EB21-2216-ABB8-8741-1273AE5FE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E96D91-AD2F-1D87-B300-CB8D2FFD9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C9E5-078D-4BFC-B689-51B8116A84B2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A6ABB-5E3F-0B70-B1C0-0AFCEB66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288797-A0D6-5B7D-3067-07FE8CB03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243E8-EC3E-4334-9627-837D20618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28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434D1-1C64-0009-72B9-2E3D442D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FA57D5-3CEA-7682-8779-8C8C75073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2C0BF5-E866-C44C-A5FF-337366B11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788027-2902-1FC0-8ABF-096B26B58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C9E5-078D-4BFC-B689-51B8116A84B2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C6D145-AFEB-94CD-0B46-858143BD1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56E4D8-B5B8-47C6-171E-64F243C99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243E8-EC3E-4334-9627-837D20618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49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D4807-B7E1-CAC9-F819-0C02BD74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7E7538-1F4A-AE19-32D5-E9DC81960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498DFA-9EB4-C011-A1BE-5A015C064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CEB5D81-5E5D-5177-509D-068ED20B4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CC2DC6B-7425-17AA-4844-6405A1737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C91267-FF4B-43F2-20DF-34B6A3C0A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C9E5-078D-4BFC-B689-51B8116A84B2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B643FE6-B232-E24A-D9EA-54711D3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322EC9B-432A-39AC-0D3F-28292987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243E8-EC3E-4334-9627-837D20618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21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81CAD-E41E-5325-A0B7-94ADA6FE6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55341A3-EFA8-E8BC-77CA-F0E9BE73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C9E5-078D-4BFC-B689-51B8116A84B2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2F1AAD-BC03-58BB-6264-1165354E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2D1FF0-F79F-DC88-0E8B-38F091B4A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243E8-EC3E-4334-9627-837D20618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342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080B14-5E7D-D1BC-5E71-58611D34C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C9E5-078D-4BFC-B689-51B8116A84B2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ACD21A3-32B9-7994-F559-700F520D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F91DEC-A92F-B597-FC35-3CC63A50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243E8-EC3E-4334-9627-837D20618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95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9ADB9-1316-7E45-B843-1BFA205CD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60435B-202E-A822-BEA6-FB2DCA2D6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78D73B-B56E-DCDB-58CD-09AA29EF7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8E6BAA-AAB5-258A-E920-AA02C2C0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C9E5-078D-4BFC-B689-51B8116A84B2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F6D399-38A9-8FE5-045F-D570CF0D9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60694A-A8D7-3BA5-FA7A-719312B6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243E8-EC3E-4334-9627-837D20618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3434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A2670-71EC-5B83-EA84-51760E78C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1B48C3-2DCC-578E-CBA6-842A2C4D21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5F0DCB-C762-C721-91A6-F17FBA0E7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72D582-E76D-335F-14E3-20D27730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C9E5-078D-4BFC-B689-51B8116A84B2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2F6E27-AA90-B059-9285-7C246FA71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4577FD-D546-9F91-BB2D-32DE0721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243E8-EC3E-4334-9627-837D20618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80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BF0E16-AADF-04F8-80D6-E03B8F73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98EEAA-A3E1-37C2-3CA4-4D5BF4148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24A814-9B8B-E8E7-927F-4958203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C9E5-078D-4BFC-B689-51B8116A84B2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59C71F-8551-0B91-3E5A-D951E3149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613BCF-F484-622E-B119-5B8DAB824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243E8-EC3E-4334-9627-837D20618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584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3B0AA4-A952-C4CF-77F1-4E8CCC3D8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D621831-C04F-E37C-1116-F9FA75D2D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85603C-EFEE-B7B7-37DE-27A2FFA21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CC9E5-078D-4BFC-B689-51B8116A84B2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776702-8CA0-D378-9D9A-817BD4BBB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7044C0-F021-7BDE-78D5-C97E3F47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243E8-EC3E-4334-9627-837D20618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16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C7E76BB-058B-7EDD-6848-501A268C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A992A4-F344-D754-E35C-6513FE651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E46A38-2A08-70AC-21E9-2BBDB322E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CC9E5-078D-4BFC-B689-51B8116A84B2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1082FD-3181-4F15-A596-1FB8B32AE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4492DB-300F-2521-1DAD-5B86ECCE6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1243E8-EC3E-4334-9627-837D206188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154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3B616A6-C791-6D70-845F-D6AAC5FB80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A8ECF2-FA36-C28A-CDFC-88E5C098E3D3}"/>
              </a:ext>
            </a:extLst>
          </p:cNvPr>
          <p:cNvSpPr txBox="1"/>
          <p:nvPr/>
        </p:nvSpPr>
        <p:spPr>
          <a:xfrm>
            <a:off x="841163" y="3417570"/>
            <a:ext cx="3330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</a:t>
            </a:r>
            <a:r>
              <a:rPr lang="pt-BR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Card </a:t>
            </a:r>
            <a:r>
              <a:rPr lang="pt-BR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Approval</a:t>
            </a:r>
            <a:r>
              <a:rPr lang="pt-BR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pt-BR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F89E9-4CF8-3B5D-999B-DB13A9A95413}"/>
              </a:ext>
            </a:extLst>
          </p:cNvPr>
          <p:cNvSpPr txBox="1"/>
          <p:nvPr/>
        </p:nvSpPr>
        <p:spPr>
          <a:xfrm>
            <a:off x="841163" y="4564380"/>
            <a:ext cx="3330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Jan/26</a:t>
            </a:r>
          </a:p>
        </p:txBody>
      </p:sp>
    </p:spTree>
    <p:extLst>
      <p:ext uri="{BB962C8B-B14F-4D97-AF65-F5344CB8AC3E}">
        <p14:creationId xmlns:p14="http://schemas.microsoft.com/office/powerpoint/2010/main" val="2982768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E27941D-0609-B002-B779-A16DA5F167D0}"/>
              </a:ext>
            </a:extLst>
          </p:cNvPr>
          <p:cNvSpPr txBox="1"/>
          <p:nvPr/>
        </p:nvSpPr>
        <p:spPr>
          <a:xfrm>
            <a:off x="235937" y="178223"/>
            <a:ext cx="115223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/>
              <a:t>Business </a:t>
            </a:r>
            <a:r>
              <a:rPr lang="pt-BR" sz="2600" b="1" dirty="0" err="1"/>
              <a:t>Implications</a:t>
            </a:r>
            <a:r>
              <a:rPr lang="pt-BR" sz="2600" b="1" dirty="0"/>
              <a:t> &amp; Next Steps – Key Business </a:t>
            </a:r>
            <a:r>
              <a:rPr lang="pt-BR" sz="2600" b="1" dirty="0" err="1"/>
              <a:t>Impressions</a:t>
            </a:r>
            <a:endParaRPr lang="pt-BR" sz="2600" b="1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DE24049-20BA-379A-415B-37787A8ED70D}"/>
              </a:ext>
            </a:extLst>
          </p:cNvPr>
          <p:cNvCxnSpPr/>
          <p:nvPr/>
        </p:nvCxnSpPr>
        <p:spPr>
          <a:xfrm>
            <a:off x="213078" y="765810"/>
            <a:ext cx="11799852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2">
            <a:extLst>
              <a:ext uri="{FF2B5EF4-FFF2-40B4-BE49-F238E27FC236}">
                <a16:creationId xmlns:a16="http://schemas.microsoft.com/office/drawing/2014/main" id="{BD33746C-12B1-42E2-6844-69E54D16E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53" y="905264"/>
            <a:ext cx="1154516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lineage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mandatory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mismatch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credit_record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application_record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(over 90%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records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matching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indicates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potential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issues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data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extraction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joining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historical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availability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analytical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proceed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confirming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integrity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Severe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defaults are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driven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stability-related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rather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demographics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alone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age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groups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46–55 are </a:t>
            </a:r>
            <a:r>
              <a:rPr lang="pt-BR" alt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represented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severe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defaults (120+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days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effect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becomes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significantly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stronger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combined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short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employment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tenure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suggests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employment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stability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more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driver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age in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isolation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Demographic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as hard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rules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such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as age,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family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dependents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show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different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distributions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default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severities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lack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sufficient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explanatory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observed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alone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them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strict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-off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rules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could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bias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reduce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portfolio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Risk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severity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just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occurrence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mild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delinquency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(30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days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exhibit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materially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different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profiles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compared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those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severe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delinquency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(90–120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days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Treating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defaults as a single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would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mask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important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dynamics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lead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suboptimal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policy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decisions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163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F9106-6DDF-41EA-231B-91C702E1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DCB93A5-98E8-F6A1-9C9F-3A7249EE6EC1}"/>
              </a:ext>
            </a:extLst>
          </p:cNvPr>
          <p:cNvSpPr/>
          <p:nvPr/>
        </p:nvSpPr>
        <p:spPr>
          <a:xfrm>
            <a:off x="388620" y="5052002"/>
            <a:ext cx="11053093" cy="14973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093EDC-D818-B5FB-A444-D012D13D9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37" y="1032452"/>
            <a:ext cx="1154516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Combine stability features for policy decisions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Instead of isolated rules, risk assessment should leverage combinations of employment tenure, age bands, and recent credit behavior to better distinguish between transient and structural risk.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Avoid exclusion-based strategies for high-risk segments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Segments overrepresented in severe default should be handled with differentiated strategies (e.g., tighter limits, monitoring, or pricing adjustments) rather than automatic rejection.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gates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Before any scoring or automation, introduce validation checks to ensure consistency between application and credit history datasets.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3570F3A-3224-6080-D54C-A3460F7E02C5}"/>
              </a:ext>
            </a:extLst>
          </p:cNvPr>
          <p:cNvSpPr txBox="1"/>
          <p:nvPr/>
        </p:nvSpPr>
        <p:spPr>
          <a:xfrm>
            <a:off x="235937" y="178223"/>
            <a:ext cx="115223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b="1" dirty="0"/>
              <a:t>Business </a:t>
            </a:r>
            <a:r>
              <a:rPr lang="pt-BR" sz="2600" b="1" dirty="0" err="1"/>
              <a:t>Implications</a:t>
            </a:r>
            <a:r>
              <a:rPr lang="pt-BR" sz="2600" b="1" dirty="0"/>
              <a:t> &amp; Next Steps – </a:t>
            </a:r>
            <a:r>
              <a:rPr lang="pt-BR" sz="2600" b="1" dirty="0" err="1"/>
              <a:t>Recommended</a:t>
            </a:r>
            <a:r>
              <a:rPr lang="pt-BR" sz="2600" b="1" dirty="0"/>
              <a:t> </a:t>
            </a:r>
            <a:r>
              <a:rPr lang="pt-BR" sz="2600" b="1" dirty="0" err="1"/>
              <a:t>Actions</a:t>
            </a:r>
            <a:endParaRPr lang="pt-BR" sz="2600" b="1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ADF3D8D6-914D-6A82-7B3B-F30169981854}"/>
              </a:ext>
            </a:extLst>
          </p:cNvPr>
          <p:cNvCxnSpPr/>
          <p:nvPr/>
        </p:nvCxnSpPr>
        <p:spPr>
          <a:xfrm>
            <a:off x="213078" y="765810"/>
            <a:ext cx="11799852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7F407FCD-1C7F-8908-84D6-AD853DDBC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717" y="5120582"/>
            <a:ext cx="1154516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Next Analytical Steps (Out of Scope)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Rebuild the analytical base after data lineage validation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Evaluate stability-adjusted risk metrics over longer horizons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 the incremental value of predictive models only after data consistency is ensured</a:t>
            </a:r>
            <a:endParaRPr kumimoji="0" lang="en-US" altLang="pt-BR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572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378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Henrique Reis dos Santos</dc:creator>
  <cp:lastModifiedBy>Gabriel Henrique Reis dos Santos</cp:lastModifiedBy>
  <cp:revision>1</cp:revision>
  <dcterms:created xsi:type="dcterms:W3CDTF">2026-01-23T01:52:15Z</dcterms:created>
  <dcterms:modified xsi:type="dcterms:W3CDTF">2026-01-23T02:15:54Z</dcterms:modified>
</cp:coreProperties>
</file>